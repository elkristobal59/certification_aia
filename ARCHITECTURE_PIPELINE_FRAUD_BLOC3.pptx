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EA5E9"/>
                </a:solidFill>
              </a:defRPr>
            </a:pPr>
            <a:r>
              <a:t>CERTIFICATION ARCHITECTE EN INTELLIGENCE ARTIFICIELLE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PIPELINE DE STREAMING &amp; DÉTECTION DE FRAUDE EN TEMPS RÉEL</a:t>
            </a:r>
          </a:p>
          <a:p>
            <a:pPr>
              <a:spcAft>
                <a:spcPts val="3500"/>
              </a:spcAft>
              <a:defRPr sz="1800">
                <a:solidFill>
                  <a:srgbClr val="94A3B8"/>
                </a:solidFill>
              </a:defRPr>
            </a:pPr>
            <a:r>
              <a:t>Architecture Hybride : Apache Kafka KRaft • GCP Cloud Run / Docker • Airflow • Parquet Lake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Bloc de Compétences 3 (RNCP 41993) : Concevoir et mettre en œuvre des pipelines de données pour l'IA</a:t>
            </a:r>
            <a:br/>
            <a:r>
              <a:t>Candidat : Chris GILLERON | Lead Data &amp; AI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CERTIFICATION ARCHITECTE IA — RNCP 41993 — BLOC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Enjeux Stratégiques, Problématique &amp; Exigences Métier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🚨 Le Défi Financier</a:t>
            </a:r>
          </a:p>
          <a:p>
            <a:pPr>
              <a:spcAft>
                <a:spcPts val="1600"/>
              </a:spcAft>
              <a:defRPr sz="2200" b="1">
                <a:solidFill>
                  <a:srgbClr val="0EA5E9"/>
                </a:solidFill>
              </a:defRPr>
            </a:pPr>
            <a:r>
              <a:t>1,00+ Milliard €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Montant des transactions frauduleuses par carte en UE (BCE). Les banques et fintechs subissent une vélocité accrue des attaques nécessitant une réponse en millisecondes.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⚡ Double Exigence Métier</a:t>
            </a:r>
          </a:p>
          <a:p>
            <a:pPr>
              <a:spcAft>
                <a:spcPts val="1600"/>
              </a:spcAft>
              <a:defRPr sz="2200" b="1">
                <a:solidFill>
                  <a:srgbClr val="0EA5E9"/>
                </a:solidFill>
              </a:defRPr>
            </a:pPr>
            <a:r>
              <a:t>Temps Réel + Batch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1. Notification immédiate dès qu'un paiement suspect survient pour blocage préventif.</a:t>
            </a:r>
            <a:br/>
            <a:r>
              <a:t>2. Rapport d'audit matinal automatisé (06h00) récapitulant les flux des 24h.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🛡️ Contraintes Réglementaires</a:t>
            </a:r>
          </a:p>
          <a:p>
            <a:pPr>
              <a:spcAft>
                <a:spcPts val="1600"/>
              </a:spcAft>
              <a:defRPr sz="2200" b="1">
                <a:solidFill>
                  <a:srgbClr val="0EA5E9"/>
                </a:solidFill>
              </a:defRPr>
            </a:pPr>
            <a:r>
              <a:t>PCI-DSS &amp; RGPD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Interdiction absolue de stocker des numéros de carte (PAN) en clair. Pseudonymisation des données clients et isolation immédiate des messages non conformes (DLQ).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CERTIFICATION ARCHITECTE IA — RNCP 41993 — BLOC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Architecture Technique de Bout en Bout (Hybride Cloud / On-Premise)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1. Ingestion Live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API HuggingFace &amp;</a:t>
            </a:r>
            <a:br/>
            <a:r>
              <a:t>Flux Replay Sécurisé</a:t>
            </a:r>
            <a:br/>
            <a:r>
              <a:t>Vélocité continue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Stream Broker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Apache Kafka KRaft</a:t>
            </a:r>
            <a:br/>
            <a:r>
              <a:t>Topic 'raw-transactions'</a:t>
            </a:r>
            <a:br/>
            <a:r>
              <a:t>3 partitions équilibrées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3. Inférence ML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FastAPI Conteneurisé</a:t>
            </a:r>
            <a:br/>
            <a:r>
              <a:t>GCP Cloud Run / Docker</a:t>
            </a:r>
            <a:br/>
            <a:r>
              <a:t>Scale-to-Zero, &lt; 15ms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4. Alerting &amp; Sécurité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Console, Logs &amp; DB</a:t>
            </a:r>
            <a:br/>
            <a:r>
              <a:t>Masquage PCI-DSS</a:t>
            </a:r>
            <a:br/>
            <a:r>
              <a:t>Décision auto 3DS/Block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5. Dual Storage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Data Lake Bronze Parquet</a:t>
            </a:r>
            <a:br/>
            <a:r>
              <a:t>+ SQLite / PostgreSQL</a:t>
            </a:r>
            <a:br/>
            <a:r>
              <a:t>Audit Trail immuable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6. Batch Audit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Apache Airflow DAG</a:t>
            </a:r>
            <a:br/>
            <a:r>
              <a:t>Déclenchement 06h00 UTC</a:t>
            </a:r>
            <a:br/>
            <a:r>
              <a:t>Rapport Matinal Markdown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CERTIFICATION ARCHITECTE IA — RNCP 41993 — BLOC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Contrôle Qualité des Flux, Résilience &amp; Dead Letter Queue (C5)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🎯 Validation de Schéma &amp; Data Quality Gate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Vérification Pydantic des attributs obligatoires (montant, coordonnées géographiques, date/heure).</a:t>
            </a:r>
            <a:br/>
            <a:br/>
            <a:r>
              <a:t>• Règles Métier Strictes : rejet immédiat des montants négatifs (exploits et failles de débordement).</a:t>
            </a:r>
            <a:br/>
            <a:br/>
            <a:r>
              <a:t>• Métriques de qualité : calcul de complétude, vérification de types et détection des valeurs aberrantes avant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🚨 Mécanisme de Dead Letter Queue (DLQ)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Topic Dédié 'fraud-dlq' : les messages corrompus ne bloquent jamais la file principale des transactions saines.</a:t>
            </a:r>
            <a:br/>
            <a:br/>
            <a:r>
              <a:t>• Isolation en Base : table SQL `dead_letter_queue` enregistrant le payload brut et la cause d'erreur exacte.</a:t>
            </a:r>
            <a:br/>
            <a:br/>
            <a:r>
              <a:t>• Résilience Opérationnelle : permet le rejeu asynchrone des transactions après correction de schéma ou de bug.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CERTIFICATION ARCHITECTE IA — RNCP 41993 — BLOC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Sécurité, Confidentialité des Données &amp; Conformité PCI-DSS (C4)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💳 Masquage PCI-DSS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Cartes Masquées 6+4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Le numéro de carte (PAN) est tronqué : seuls les 6 premiers chiffres (BIN) et les 4 derniers sont conservés (`453288******9812`). Aucun numéro complet en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👤 Pseudonymisation RGPD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Privacy-by-Design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Les noms des porteurs sont hachés via SHA-256 et masqués (`J*** D*** ID:A3F8`). Respect intégral des principes de minimisation des données (Article 5 RGPD).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⚡ SLA &amp; Alertes Immédiates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&lt; 15 ms Latence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Modèle HistGradientBoosting optimisé. Alerte visuelle console et consignation en log immuable dès probabilité &gt;= 50% avec classification de risque (CRITICAL, HIGH).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CERTIFICATION ARCHITECTE IA — RNCP 41993 — BLOC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Synthèse des Livrables &amp; Démonstration du Pipeline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🎯 Validation Intégrale des Attentes du Jury (RNCP 41993 - Bloc 3)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📁 Dépôt GitHub Officiel : Code versionné sur https://github.com/Elkristobal59/CERTIFICATION_AIA avec CI/CD Cloud Build et .gitignore rigoureux.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☁️ Déploiement Serverless Cloud Run : Microservice FastAPI déployable avec Scale-to-Zero (min-instances: 0, facturation nulle hors trafic, dimensionné à 1 vCPU / 1 GiB).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🎥 Vidéo de Démonstration Live : Enregistrement pas-à-pas démontrant le flux Kafka, l'alerte en direct, le routage DLQ et l'exécution du rapport matinal Airflow.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📊 Modèle &amp; Tracking MLflow : Modèle supervisé avec métriques logguées dans MLflow (ROC-AUC: 0.98+, Rappel: 92%+, seuil calibré) et Model Registry.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📈 Double Temporalité Métier : Exigence 1 (Alerte live &lt; 15ms) et Exigence 2 (Batch matinal d'audit 06h00) validées en environnement réel conteneurisé.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